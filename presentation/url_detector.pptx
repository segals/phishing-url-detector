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 minute talk. Opening line: 'Can you tell if a link is phishing just from the URL string itself — no clicking, no page content?' I built a detector that does exactly that, got a near-perfect score, and then spent most of the project proving that score doesn't mean what it looks like. That honest audit is the real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two-part project: my partner reads the words of the email; I read the link. Both are meant to be fused later (out of scope here). The plan is deliberately 'build then break' — the 20% that is model-building sets up the 80% that is critical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[COURSE: EDA + train/val/test methodology.] Data prep was minimal on purpose: only a label standardisation (1=phishing), dropping empties, and de-duplicating identical URLs before the split so the same URL can't appear in train and test. I did NOT rebalance classes, remove outliers, or scale the raw data — so the near-perfect score I'm about to show is a property of the RAW data, not of my cleaning. Right figure: the EDA already looks suspicious — the classes separate almost perfectly on trivial quantities, which never happens with genuinely hard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[COURSE: feature engineering.] This is the key design choice. Text has to be turned into numbers somehow — my partner uses TF-IDF (term frequency × inverse document frequency) over words. A URL isn't a sentence; it's structured (scheme://host/path?query). So I hand-engineer 40 numeric features straight from the string. I deliberately avoided a black-box deep model (like URLNet) because interpretability is the whole point: when I find the near-perfect score is an artifact, I want to name exactly which feature is responsible — which a black box would hide.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six families briefly. Lexical = size and punctuation of the string. Host/domain = structure of the hostname (an IP literal instead of a domain name is suspicious). TLD = the suffix; some cheap TLDs (.tk, .xyz) are over-represented in abuse feeds. Entropy and Brand each have real theory — next slide. Scheme/encoding includes HTTPS (which turns out to be the villain of the story) and punycode, the xn-- encoding used to register look-alike international-character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[COURSE: Shannon entropy / information theory; edit distance.] Entropy formula: sum over the character distribution of the host, p·log2(p). Intuitively it measures unpredictability — a real brand name is low-entropy, a random string is high-entropy. Levenshtein distance is the classic string-similarity measure, computed by dynamic programming; paypa1→paypal is one substitution, so distance 1. Domains within edit distance 1–2 of a known brand get flagged as typosquats. These two features are where the URL side borrows the same math toolkit as the rest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[COURSE: the accuracy paradox.] This is the model you 'got' in the first round. It's excellent — and that's the problem. The decomposition is the first alarm: a single provided column scores 0.995, meaning it's essentially a copy of the answer key (leakage). And the accuracy paradox: 57% of the data is legit, so a do-nothing model looks 57% accurate while catching zero phishing — which is why I never report accuracy alone. Everything after this slide is a 'discovery' about why the perfect score is fake.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1: WHY is it perfect? Legit URLs are 100% HTTPS, phishing only 49% — a 51-point gap baked into how the two classes were gathered. The model is basically an HTTPS detector. This is the core critical finding: near-perfect benchmark scores measure dataset construction, not the phishing problem. Note the irony — in the real world phishing is mostly HTTPS now, so this learned rule is actually backwards outside the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[COURSE: evaluation metrics + statistical validity.] Explain the two that get asked about. MCC = Matthews Correlation Coefficient: computed from true/false positives and negatives all four together, it ranges −1 (perfectly wrong) to +1 (perfect), 0 = random. Unlike accuracy or even F1, you can't fake a good MCC by exploiting the majority class — that's why it's the honest single number under imbalance. Bootstrap CI: instead of trusting one number from one test set, I resample the test set with replacement 1000 times, recompute the metric each time, and report the middle 95% — it tells me how much the number would wobble, so I don't over-read a 0.001 difference. McNemar does the same job for comparing two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[COURSE: explainability / SHAP.] SHAP (Lundberg &amp; Lee 2017) assigns each feature a fair share of credit for a prediction, borrowing the Shapley-value idea from game theory — it's faithful, not a guess. Result: is_https dominates by ~3×. So Discovery 1 (the HTTPS artifact) and Discovery 2 (SHAP) independently point at the same feature. That sets up the attacks: if the model leans on HTTPS, an attacker just needs to flip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[COURSE: adversarial ML — evasion, perturbation, homoglyphs, adversarial training.] The attacker keeps the URL working but reshapes its surface. Two findings: (1) character-level attacks (Cyrillic look-alikes, typosquats) barely move recall — a structural detector doesn't care about the exact letters, the opposite of a bag-of-words text model, which those same tricks defeat. Nice complementarity with my partner. (2) But the artifact is the hole: just serving over HTTPS cuts recall to 0.67, and a clean bare HTTPS domain evades completely (recall 0). This is what real phishing does — host on legitimate cloud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[COURSE: abnormality / anomaly detection — Isolation Forest, LOF.] A weaker-assumption sanity check: with no phishing labels at all, unsupervised detectors trained only on legit URLs still get AUC 0.83 / 0.94. Isolation Forest isolates anomalies quickly with random splits; LOF flags points in low-density regions relative to their neighbours. Useful, but still built on the same structural signals, so they inherit the same fragility.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[COURSE: domain shift / concept drift; AUC.] The real test — a totally different dataset. The near-perfect model collapses to F1 0.67, AUC 0.43. AUC below 0.5 is the key idea: AUC is the chance a random phishing URL scores above a random legit one; 0.5 is a coin flip. Below 0.5 means the model is systematically ranking legit ABOVE phishing — it learned a real pattern but that pattern is inverted in the new data. I call this 'confidently backwards': not clueless, but confidently wrong. The boxplot shows why: in-distribution the classes separate cleanly; on the new data both pile up at ~1.0. Yet it still catches 100% of live current phishing, because real phishing today is still structurally messy — a genuinely nuanced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[COURSE: distance metrics — Kolmogorov–Smirnov, Wasserstein/EMD.] This closes the loop. I measure, feature by feature, how different the two datasets are, using two standard distances: KS (largest gap between the two cumulative distribution curves) and Wasserstein (the earth-mover distance — how much probability mass must move, and how far). The most-shifted features turn out to be precisely is_https, path_len, n_subdomain — the same features SHAP flagged as the model's top drivers. So the collapse isn't mysterious: the model built its decision on the three least-transferable signals. Two different tools (SHAP + distance metrics) corroborate one causal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bottom line. The detector isn't worthless — it's fast, private, interpretable, and resists cheap character tricks, and it catches today's messy phishing. But it can't stand alone: it's an artifact-driven benchmark score that an attacker beats by using legitimate hosting, and it doesn't survive a change of dataset. Hence fusion with the content channel — the two look at completely independent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explicit concept map — this is the slide to point to if the lecturer asks 'where did you use what we taught?'. Every item here is earned in a specific experiment, and the mapping is also in the report appendix and the notebook's final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Likely questions: (1) 'Why is your score so high?' → it's an artifact, that's the whole point. (2) 'Did you cause it by preprocessing?' → no; only dedup + split, no rebalancing, hash logged. (3) 'Biggest weakness?' → doesn't generalise (AUC 0.43) and evaded by legit hosting → fusion. (4) 'Why not deep learning / URLNet?' → interpretability, so I can name the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Catching phishing from the link alone</a:t>
            </a:r>
          </a:p>
          <a:p>
            <a:r>
              <a:rPr sz="2000" b="0" i="1">
                <a:solidFill>
                  <a:srgbClr val="9AD1C9"/>
                </a:solidFill>
                <a:latin typeface="Calibri"/>
              </a:rPr>
              <a:t>…and why “99% accuracy” in URL phishing detection is mostly an illusion</a:t>
            </a:r>
          </a:p>
          <a:p>
            <a:pPr>
              <a:spcBef>
                <a:spcPts val="2600"/>
              </a:spcBef>
            </a:pPr>
            <a:r>
              <a:rPr sz="1500" b="0" i="0">
                <a:solidFill>
                  <a:srgbClr val="C7D0D8"/>
                </a:solidFill>
                <a:latin typeface="Calibri"/>
              </a:rPr>
              <a:t>Data Science &amp; Cyber  ·  the URL / link detector (Student 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D2B3A"/>
                </a:solidFill>
                <a:latin typeface="Calibri"/>
              </a:rPr>
              <a:t>The question, and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Phishing is the #1 way attackers get a first foothold — and much of it is just a link.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Can we classify a URL as phishing / legitimate from the STRING ALONE?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–  no page fetch → fast (~milliseconds), private, works before the user clicks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Two-part project: this half = the URL / link channel; my partner = the email content channel.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Built independently. Plan: build a detector → then stress-test whether its score is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D2B3A"/>
                </a:solidFill>
                <a:latin typeface="Calibri"/>
              </a:rPr>
              <a:t>The data</a:t>
            </a:r>
          </a:p>
          <a:p>
            <a:r>
              <a:rPr sz="1400" b="0" i="1">
                <a:solidFill>
                  <a:srgbClr val="2A9D8F"/>
                </a:solidFill>
                <a:latin typeface="Calibri"/>
              </a:rPr>
              <a:t>real, public, recent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PhiUSIIL (Prasad &amp; Chandra, 2024; UCI id 967) — 235,795 real URLs, 43% phishing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Preprocessing: de-duplicate on the URL BEFORE splitting (no leakage), keep the natural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–  class balance (no rebalancing), stratified 60/20/20 split, seed 42, test used once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For the generalisation test later: an INDEPENDENT Kaggle set (651k URLs) + live OpenPhish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Reproducible: cleaned data is SHA-256 hashed and logged</a:t>
            </a:r>
          </a:p>
        </p:txBody>
      </p:sp>
      <p:pic>
        <p:nvPicPr>
          <p:cNvPr id="5" name="Picture 4" descr="F1_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5623560" cy="15572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D2B3A"/>
                </a:solidFill>
                <a:latin typeface="Calibri"/>
              </a:rPr>
              <a:t>How we chose the features</a:t>
            </a:r>
          </a:p>
          <a:p>
            <a:r>
              <a:rPr sz="1400" b="0" i="1">
                <a:solidFill>
                  <a:srgbClr val="2A9D8F"/>
                </a:solidFill>
                <a:latin typeface="Calibri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A URL is a short, STRUCTURED string — not prose.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So unlike my partner (who vectorises text with TF-IDF / bag-of-words), I compute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–  interpretable numbers DIRECTLY from the URL — no learned text embedding.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Why interpretable, hand-built features (not a deep character model / URLNet)?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–  → so I can later attribute the score to specific, human-readable causes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40 features, grouped into 6 families (next slide)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D2B3A"/>
                </a:solidFill>
                <a:latin typeface="Calibri"/>
              </a:rPr>
              <a:t>The 40 features — six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 i="0">
                <a:solidFill>
                  <a:srgbClr val="1D2B3A"/>
                </a:solidFill>
                <a:latin typeface="Calibri"/>
              </a:rPr>
              <a:t>•  Lexical / length — URL length; counts of dots, slashes, digits, hyphens; digit ratio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1D2B3A"/>
                </a:solidFill>
                <a:latin typeface="Calibri"/>
              </a:rPr>
              <a:t>•  Host / domain — number of subdomains; is the host a raw IP; unusual port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1D2B3A"/>
                </a:solidFill>
                <a:latin typeface="Calibri"/>
              </a:rPr>
              <a:t>•  TLD — the suffix (.com vs .tk vs .xyz); is it an abuse-associated TLD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1D2B3A"/>
                </a:solidFill>
                <a:latin typeface="Calibri"/>
              </a:rPr>
              <a:t>•  Entropy — randomness of the host string (algorithmically-generated domains)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1D2B3A"/>
                </a:solidFill>
                <a:latin typeface="Calibri"/>
              </a:rPr>
              <a:t>•  Scheme / encoding — HTTPS?; punycode (xn--); percent/hex encoding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1D2B3A"/>
                </a:solidFill>
                <a:latin typeface="Calibri"/>
              </a:rPr>
              <a:t>•  Brand / cue — words like ‘verify/login/secure’; look-alike distance to real brands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D2B3A"/>
                </a:solidFill>
                <a:latin typeface="Calibri"/>
              </a:rPr>
              <a:t>Two features worth the math</a:t>
            </a:r>
          </a:p>
          <a:p>
            <a:r>
              <a:rPr sz="1400" b="0" i="1">
                <a:solidFill>
                  <a:srgbClr val="2A9D8F"/>
                </a:solidFill>
                <a:latin typeface="Calibri"/>
              </a:rPr>
              <a:t>information theory · edit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D2B3A"/>
                </a:solidFill>
                <a:latin typeface="Calibri"/>
              </a:rPr>
              <a:t>Shannon entropy of the host:   H = − Σ p · log₂(p)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“google” = repeating, predictable letters → LOW entropy;  “x7qz9wvt” ≈ random → HIGH entropy.</a:t>
            </a:r>
          </a:p>
          <a:p>
            <a:r>
              <a:rPr sz="1600" b="0" i="1">
                <a:solidFill>
                  <a:srgbClr val="2A9D8F"/>
                </a:solidFill>
                <a:latin typeface="Calibri"/>
              </a:rPr>
              <a:t>→ catches algorithmically-generated (DGA) phishing domains.</a:t>
            </a:r>
          </a:p>
          <a:p>
            <a:pPr>
              <a:spcBef>
                <a:spcPts val="2000"/>
              </a:spcBef>
            </a:pPr>
            <a:r>
              <a:rPr sz="2200" b="1" i="0">
                <a:solidFill>
                  <a:srgbClr val="1D2B3A"/>
                </a:solidFill>
                <a:latin typeface="Calibri"/>
              </a:rPr>
              <a:t>Brand look-alike:   Levenshtein edit distance to a known brand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edit distance = min single-character inserts / deletes / substitutions to turn one word into another.</a:t>
            </a:r>
          </a:p>
          <a:p>
            <a:r>
              <a:rPr sz="1600" b="0" i="1">
                <a:solidFill>
                  <a:srgbClr val="2A9D8F"/>
                </a:solidFill>
                <a:latin typeface="Calibri"/>
              </a:rPr>
              <a:t>“paypa1” is edit-distance 1 from “paypal”  → flag distance 1–2 as a typosquat.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D2B3A"/>
                </a:solidFill>
                <a:latin typeface="Calibri"/>
              </a:rPr>
              <a:t>Step 1 — train it. It looks perfect: F1 ≈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All provided features → F1 1.0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ONE feature (URLSimilarityIndex) alone → F1 0.9953  → basically the label (leakage)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My honest hand-built lexical features → F1 0.9967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Accuracy paradox: always-predict-legit = 57% accuracy but 0% recall (catches nothing)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A one-line ‘not-HTTPS → phishing’ rule alone already scores F1 0.68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E76F51"/>
                </a:solidFill>
                <a:latin typeface="Calibri"/>
              </a:rPr>
              <a:t>This is where the FIRST learning ends — and the real project begins.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D2B3A"/>
                </a:solidFill>
                <a:latin typeface="Calibri"/>
              </a:rPr>
              <a:t>Discovery 1 — the score is a collection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840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76F51"/>
                </a:solidFill>
                <a:latin typeface="Calibri"/>
              </a:rPr>
              <a:t>DISCOVERY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Legitimate URLs in PhiUSIIL: 1.0 HTTPS.   Phishing: 0.486 HTTPS.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So the model largely learns ‘HTTP = phishing’ — a fact about how the data was collected,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–  NOT about phishing (real modern phishing is mostly HTTPS — this rule is backwards!)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Legit URLs here are clean home-pages; phishing are messy deep links.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The model learned the dataset’s shape, not danger.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D2B3A"/>
                </a:solidFill>
                <a:latin typeface="Calibri"/>
              </a:rPr>
              <a:t>How we evaluate honestly</a:t>
            </a:r>
          </a:p>
          <a:p>
            <a:r>
              <a:rPr sz="1400" b="0" i="1">
                <a:solidFill>
                  <a:srgbClr val="2A9D8F"/>
                </a:solidFill>
                <a:latin typeface="Calibri"/>
              </a:rPr>
              <a:t>the metric toolkit —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 i="0">
                <a:solidFill>
                  <a:srgbClr val="1D2B3A"/>
                </a:solidFill>
                <a:latin typeface="Calibri"/>
              </a:rPr>
              <a:t>•  Accuracy lies under imbalance (paradox) → report Precision, Recall, F1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1D2B3A"/>
                </a:solidFill>
                <a:latin typeface="Calibri"/>
              </a:rPr>
              <a:t>•  F2 — like F1 but weights RECALL more: a missed phish (FN) costs more than a false alarm (FP)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1D2B3A"/>
                </a:solidFill>
                <a:latin typeface="Calibri"/>
              </a:rPr>
              <a:t>•  MCC (Matthews) — one score in [−1,1] using ALL 4 confusion cells; honest under imbalance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1D2B3A"/>
                </a:solidFill>
                <a:latin typeface="Calibri"/>
              </a:rPr>
              <a:t>•  AUC — P(a random phish scores above a random legit); 0.5 = coin-flip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1D2B3A"/>
                </a:solidFill>
                <a:latin typeface="Calibri"/>
              </a:rPr>
              <a:t>•  Bootstrap 95% CI — resample the test set 1000× to get error bars on every metric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1D2B3A"/>
                </a:solidFill>
                <a:latin typeface="Calibri"/>
              </a:rPr>
              <a:t>•  McNemar test — is model A really better than B, or just luck on this split?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D2B3A"/>
                </a:solidFill>
                <a:latin typeface="Calibri"/>
              </a:rPr>
              <a:t>Discovery 2 — SHAP confirms it: is_https drives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840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76F51"/>
                </a:solidFill>
                <a:latin typeface="Calibri"/>
              </a:rPr>
              <a:t>DISCOVERY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SHAP = a faithful way to credit each feature for the prediction (game theory)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#1 driver = is_https, ~3× the next feature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The model is a thin veneer over the HTTPS artifact —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–  which is exactly why the attacks on the next slide work</a:t>
            </a:r>
          </a:p>
        </p:txBody>
      </p:sp>
      <p:pic>
        <p:nvPicPr>
          <p:cNvPr id="6" name="Picture 5" descr="F5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5486400" cy="39188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D2B3A"/>
                </a:solidFill>
                <a:latin typeface="Calibri"/>
              </a:rPr>
              <a:t>Discovery 3 — attack it: robust to tricks, but not to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840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76F51"/>
                </a:solidFill>
                <a:latin typeface="Calibri"/>
              </a:rPr>
              <a:t>DISCOVERY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Homoglyph / typosquat (char tricks) → recall stays ~0.99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–  a STRUCTURAL detector ignores letters → resists what BREAKS a text model (nice contrast!)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Just switch HTTP → HTTPS → recall 0.672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Host on a clean HTTPS domain (mimicry) → recall 0.0  (total evasion)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Normalisation defeats homoglyphs; NOTHING URL-only defeats mimicry</a:t>
            </a:r>
          </a:p>
        </p:txBody>
      </p:sp>
      <p:pic>
        <p:nvPicPr>
          <p:cNvPr id="6" name="Picture 5" descr="F3_arms_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03120"/>
            <a:ext cx="5349240" cy="24963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D2B3A"/>
                </a:solidFill>
                <a:latin typeface="Calibri"/>
              </a:rPr>
              <a:t>Cross-check — can we catch it with NO labels?</a:t>
            </a:r>
          </a:p>
          <a:p>
            <a:r>
              <a:rPr sz="1400" b="0" i="1">
                <a:solidFill>
                  <a:srgbClr val="2A9D8F"/>
                </a:solidFill>
                <a:latin typeface="Calibri"/>
              </a:rPr>
              <a:t>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Train only on LEGITIMATE URLs; flag anything unusual as phishing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Isolation Forest → AUC 0.828   (isolates odd points with random splits)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Local Outlier Factor → AUC 0.944   (compares a point’s density to its neighbours’)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Respectable with zero phishing labels — but below supervised, and riding the same artifacts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D2B3A"/>
                </a:solidFill>
                <a:latin typeface="Calibri"/>
              </a:rPr>
              <a:t>Discovery 4 — it does NOT generalise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840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76F51"/>
                </a:solidFill>
                <a:latin typeface="Calibri"/>
              </a:rPr>
              <a:t>DISCOVERY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Train PhiUSIIL, test an INDEPENDENT 651k dataset: F1 0.997 → 0.666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AUC 0.999 → 0.434  — below 0.5 = ‘confidently backwards’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–  it doesn’t just lose skill; its ranking INVERTS (legit scored above phishing)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–  both classes collapse to ~1.0 → the model can’t tell them apart at all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BUT live OpenPhish phishing: recall 1.0 (today’s phishing is still messy → caught)</a:t>
            </a:r>
          </a:p>
        </p:txBody>
      </p:sp>
      <p:pic>
        <p:nvPicPr>
          <p:cNvPr id="6" name="Picture 5" descr="F4_cross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48840"/>
            <a:ext cx="5349240" cy="30668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D2B3A"/>
                </a:solidFill>
                <a:latin typeface="Calibri"/>
              </a:rPr>
              <a:t>Why it inverts — distance metrics pinpoint it</a:t>
            </a:r>
          </a:p>
          <a:p>
            <a:r>
              <a:rPr sz="1400" b="0" i="1">
                <a:solidFill>
                  <a:srgbClr val="2A9D8F"/>
                </a:solidFill>
                <a:latin typeface="Calibri"/>
              </a:rPr>
              <a:t>KS &amp; Wasserstein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Measure how far each feature’s distribution SHIFTS between the two datasets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–  KS statistic = biggest gap between the two cumulative distributions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–  Wasserstein (earth-mover) = work to turn one distribution into the other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Most-shifted features = is_https, path_len, n_subdomain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–  …which are EXACTLY the top SHAP drivers → it built on the least transferable signals</a:t>
            </a:r>
          </a:p>
        </p:txBody>
      </p:sp>
      <p:pic>
        <p:nvPicPr>
          <p:cNvPr id="5" name="Picture 4" descr="F7_domain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03120"/>
            <a:ext cx="5349240" cy="32095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D2B3A"/>
                </a:solidFill>
                <a:latin typeface="Calibri"/>
              </a:rPr>
              <a:t>Conclusion — a useful second opinion, not 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URL structure alone is NOT a generalisable phishing signal: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–  built on a dataset artifact (HTTPS + correlated structure) → trivially evaded, collapses OOD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But it IS fast, private, interpretable, and robust to character obfuscation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1D2B3A"/>
                </a:solidFill>
                <a:latin typeface="Calibri"/>
              </a:rPr>
              <a:t>•  Right design = FUSION: this link channel + my partner’s content channel + reputation/age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–  → beat one channel and the other still fires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E76F51"/>
                </a:solidFill>
                <a:latin typeface="Calibri"/>
              </a:rPr>
              <a:t>Near-perfect URL benchmarks measure dataset construction, not phishing.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D2B3A"/>
                </a:solidFill>
                <a:latin typeface="Calibri"/>
              </a:rPr>
              <a:t>Course concepts used in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50" b="0" i="0">
                <a:solidFill>
                  <a:srgbClr val="1D2B3A"/>
                </a:solidFill>
                <a:latin typeface="Calibri"/>
              </a:rPr>
              <a:t>•  EDA · distributions · skewness/kurtosis · robust stats · Pearson vs Spearman · Mann–Whitney U</a:t>
            </a:r>
          </a:p>
          <a:p>
            <a:pPr>
              <a:spcAft>
                <a:spcPts val="900"/>
              </a:spcAft>
            </a:pPr>
            <a:r>
              <a:rPr sz="1550" b="0" i="0">
                <a:solidFill>
                  <a:srgbClr val="1D2B3A"/>
                </a:solidFill>
                <a:latin typeface="Calibri"/>
              </a:rPr>
              <a:t>•  Feature engineering · Shannon entropy (information theory) · Levenshtein edit distance</a:t>
            </a:r>
          </a:p>
          <a:p>
            <a:pPr>
              <a:spcAft>
                <a:spcPts val="900"/>
              </a:spcAft>
            </a:pPr>
            <a:r>
              <a:rPr sz="1550" b="0" i="0">
                <a:solidFill>
                  <a:srgbClr val="1D2B3A"/>
                </a:solidFill>
                <a:latin typeface="Calibri"/>
              </a:rPr>
              <a:t>•  Accuracy paradox · Precision/Recall/F1/F2/MCC/AUC · cost-sensitive thresholds</a:t>
            </a:r>
          </a:p>
          <a:p>
            <a:pPr>
              <a:spcAft>
                <a:spcPts val="900"/>
              </a:spcAft>
            </a:pPr>
            <a:r>
              <a:rPr sz="1550" b="0" i="0">
                <a:solidFill>
                  <a:srgbClr val="1D2B3A"/>
                </a:solidFill>
                <a:latin typeface="Calibri"/>
              </a:rPr>
              <a:t>•  Bootstrap confidence intervals · McNemar’s test</a:t>
            </a:r>
          </a:p>
          <a:p>
            <a:pPr>
              <a:spcAft>
                <a:spcPts val="900"/>
              </a:spcAft>
            </a:pPr>
            <a:r>
              <a:rPr sz="1550" b="0" i="0">
                <a:solidFill>
                  <a:srgbClr val="1D2B3A"/>
                </a:solidFill>
                <a:latin typeface="Calibri"/>
              </a:rPr>
              <a:t>•  Explainability (SHAP) · adversarial ML (evasion, homoglyphs, adversarial training)</a:t>
            </a:r>
          </a:p>
          <a:p>
            <a:pPr>
              <a:spcAft>
                <a:spcPts val="900"/>
              </a:spcAft>
            </a:pPr>
            <a:r>
              <a:rPr sz="1550" b="0" i="0">
                <a:solidFill>
                  <a:srgbClr val="1D2B3A"/>
                </a:solidFill>
                <a:latin typeface="Calibri"/>
              </a:rPr>
              <a:t>•  Anomaly detection (Isolation Forest, LOF) · calibration (Brier)</a:t>
            </a:r>
          </a:p>
          <a:p>
            <a:pPr>
              <a:spcAft>
                <a:spcPts val="900"/>
              </a:spcAft>
            </a:pPr>
            <a:r>
              <a:rPr sz="1550" b="0" i="0">
                <a:solidFill>
                  <a:srgbClr val="1D2B3A"/>
                </a:solidFill>
                <a:latin typeface="Calibri"/>
              </a:rPr>
              <a:t>•  Domain shift / concept drift · distance metrics (KS, Wasserstein) · feature ablation · error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r>
              <a:rPr sz="1600" b="0" i="0">
                <a:solidFill>
                  <a:srgbClr val="9AD1C9"/>
                </a:solidFill>
                <a:latin typeface="Calibri"/>
              </a:rPr>
              <a:t>github.com/segals/phishing-url-detector   ·   reproducible: python run_all.py</a:t>
            </a:r>
          </a:p>
          <a:p>
            <a:pPr>
              <a:spcBef>
                <a:spcPts val="1000"/>
              </a:spcBef>
            </a:pPr>
            <a:r>
              <a:rPr sz="1800" b="0" i="1">
                <a:solidFill>
                  <a:srgbClr val="C7D0D8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